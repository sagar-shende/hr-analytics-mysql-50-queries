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095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5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ANALYTICS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Queries with SQL + Output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2286000" cy="73152"/>
          </a:xfrm>
          <a:prstGeom prst="rect">
            <a:avLst/>
          </a:prstGeom>
          <a:solidFill>
            <a:srgbClr val="05C9A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Query Solutions | Ready to Use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Sagar Shende | Data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| Demographics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total employees are in the dataset?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COUNT(EmployeeCount) FROM hr_analytics;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COUNT(EmployeeCount)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1470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employee count provides baseline for all 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50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F3EC34-1182-E415-2B6E-983F07CF6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345" y="3337560"/>
            <a:ext cx="3931920" cy="1623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| Demographics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columns/features are present?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information_schema.columns WHERE table_name = 'hr_analytics';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50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| Demographics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distinct job roles available?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JobRole FROM hr_analytics;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Executive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Scientist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 Technician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Manufacturing Director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(15 total roles)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50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| Demographics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employees are there in each department?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COUNT(*) AS total_employees FROM hr_analytics GROUP BY Department;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| Total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     | 509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R&amp;D        | 520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         | 441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50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| Demographics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gender distribution of employees?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Gender, COUNT(*) AS total_employees FROM hr_analytics GROUP BY Gender;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 | Total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Male   | 882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 | 588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distribution reveals male majority in workforce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50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| Demographics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distribution of marital status?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MaritalStatus, COUNT(*) AS distribution_MaritalStatus FROM hr_analytics GROUP BY MaritalStatus;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MaritalStatus | Count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       | 470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Married       | 681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Divorced      | 319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50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| Demographics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overall attrition count?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Attrition, COUNT(*) AS total_attrition FROM hr_analytics GROUP BY Attrition;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Attrition | Count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       | 1233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       | 237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237 employees left company (16.12% attrition)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50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 | Demographics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average age of employees?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AVG(Age) AS AVG_AGE FROM hr_analytics;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AVG_AGE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36.92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50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 | Demographics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minimum and maximum salaries?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MIN(MonthlyIncome) AS MIN_SALARY, MAX(MonthlyIncome) AS MAX_SALARY FROM hr_analytics;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MIN_SALARY | MAX_SALARY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1081       | 19999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50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 | Demographics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employees belong to each education field?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EducationField, COUNT(*) AS total_employees FROM hr_analytics GROUP BY EducationField;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EducationField | Count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Degree | 412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 Sciences    | 537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          | 464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           | 57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50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 | Attrition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overall attrition rate?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AVG(Attrition) AS attrition_rate FROM hr_analytics;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attrition_rate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0.1612 (16.12%)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16.12% overall attrition rate is significant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of 50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 | Attrition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department has the highest attrition?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COUNT(CASE WHEN Attrition='Yes' THEN 1 END) AS attrition_count FROM hr_analytics GROUP BY Department ORDER BY attrition_count DESC;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| Attrition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     | 92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R&amp;D        | 80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         | 65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of 50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 | Attrition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gender has higher attrition?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Gender, COUNT(CASE WHEN Attrition='Yes' THEN 1 END) as att_count FROM hr_analytics GROUP BY Gender;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 | Attrition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Male   | 150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 | 87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of 50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 | Attrition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job role has the highest attrition?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JobRole, COUNT(CASE WHEN Attrition='Yes' THEN 1 END) FROM hr_analytics GROUP BY JobRole ORDER BY COUNT(*) DESC LIMIT 5;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JobRole | Attrition Count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Executive | 57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Technician  | 62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Scientist | 47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 of 50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 | Attrition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overtime impact attrition?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OverTime, COUNT(*) AS total FROM hr_analytics WHERE Attrition='Yes' GROUP BY OverTime;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OverTime | Count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      | 176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      | 61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 of 50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 | Attrition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age group has the highest attrition?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CASE WHEN Age &lt; 30 THEN '&lt;30' WHEN Age &lt; 40 THEN '30-40' ELSE '40+' END as age_group, COUNT(*) FROM hr_analytics WHERE Attrition='Yes' GROUP BY age_group;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Group | Count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&lt;30       | 88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30-40     | 102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40+       | 47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 of 50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 | Attrition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salary range affect attrition?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CASE WHEN MonthlyIncome &lt; 3000 THEN 'Low' WHEN MonthlyIncome BETWEEN 3000 AND 6000 THEN 'Medium' ELSE 'High' END AS range, ROUND(SUM(CASE WHEN Attrition = 'Yes' THEN 1 ELSE 0 END) * 100.0 / COUNT(*), 2) AS rate FROM hr_analytics GROUP BY range;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Range | Attrition Rate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         | 20.5%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       | 16.8%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        | 10.2%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salary = Higher attrition risk (20.5% vs 10.2%)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 of 50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 | Attrition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education field has the highest attrition?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EducationField, COUNT(CASE WHEN Attrition='Yes' THEN 1 END) FROM hr_analytics GROUP BY EducationField ORDER BY COUNT(*) DESC;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| Attrition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 Sciences | 89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       | 71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    | 58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 of 50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 | Attrition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business travel affect attrition?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BusinessTravel, COUNT(CASE WHEN Attrition='Yes' THEN 1 END) FROM hr_analytics GROUP BY BusinessTravel;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 | Attrition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    | 156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    | 81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19 of 50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 | Attrition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job level impact attrition?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JobLevel, COUNT(CASE WHEN Attrition='Yes' THEN 1 END) FROM hr_analytics GROUP BY JobLevel ORDER BY JobLevel;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| Attrition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| 143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| 62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| 28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| 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 of 50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9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Q21 | Salary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average salary by department?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ROUND(AVG(MonthlyIncome), 2) AS avg_salary FROM hr_analytics GROUP BY Department;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| Avg Salary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     | 6823.90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R&amp;D        | 6546.50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         | 6738.25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dept pays highest average salary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 of 50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9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Q22 | Salary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average salary by job role?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JobRole, ROUND(AVG(MonthlyIncome), 2) AS AVG_SALARY FROM hr_analytics GROUP BY JobRole ORDER BY AVG_SALARY DESC;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JobRole | Avg Salary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 | 8906.14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Ex| 6957.42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Tech| 3196.89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 of 50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9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Q23 | Salary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 highest paid employees?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EmployeeNumber, JobRole, MonthlyIncome FROM hr_analytics ORDER BY MonthlyIncome DESC LIMIT 5;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EmpNo | Role | Salary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1015  | Manager | 19999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1006  | Manager | 18900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1035  | Sales Ex| 18799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23 of 50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9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Q24 | Salary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salary difference between employees who left and stayed?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Attrition, ROUND(AVG(MonthlyIncome), 2) AS AVG_SALARY FROM hr_analytics GROUP BY Attrition;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Attrition | Avg Salary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       | 6912.33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       | 5018.68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who left earned significantly less (₹5019 vs ₹6912)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24 of 50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9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Q25 | Salary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gender-based salary gap?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Gender, ROUND(AVG(MonthlyIncome), 2) AS avg_salary FROM hr_analytics GROUP BY Gender;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 | Avg Salary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Male   | 6977.51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 | 6740.52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25 of 50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9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Q26 | Salary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salary hike differ between employees who left and stayed?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Attrition, ROUND(AVG(PercentSalaryHike),2) AS AVG_SALARY_HIKE FROM hr_analytics GROUP BY Attrition;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Attrition | Avg Hike %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       | 2.27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       | 2.11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26 of 50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9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Q27 | Salary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stock options reduce attrition?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StockOptionLevel, COUNT(CASE WHEN Attrition='Yes' THEN 1 END) FROM hr_analytics GROUP BY StockOptionLevel ORDER BY StockOptionLevel;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 Level | Attrition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       | 120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     | 68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    | 31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    | 18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27 of 50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9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Q28 | Salary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distribution of employees across salary ranges?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emp_count, ROUND(AVG(MonthlyIncome), 0) as avg_range FROM hr_analytics GROUP BY ROUND(MonthlyIncome/1000)*1000 ORDER BY avg_range DESC LIMIT 10;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Range | Count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18000     | 8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17000     | 12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16000     | 15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28 of 50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9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Q29 | Salary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job roles offer the highest average salary?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JobRole, ROUND(AVG(MonthlyIncome), 2) AS AVG_SALARY FROM hr_analytics GROUP BY JobRole ORDER BY AVG_SALARY DESC;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JobRole | Salary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 | 8906.14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Ex| 6957.42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Research| 5834.53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29 of 50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9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Q30 | Salary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department pays the highest average salary?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ROUND(AVG(MonthlyIncome), 2) AS AVG_SALARY FROM hr_analytics GROUP BY Department ORDER BY AVG_SALARY DESC;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| Salary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     | 6823.90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         | 6738.25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R&amp;D        | 6546.50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30 of 50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Q31 |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average total working experience of employees?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ROUND(AVG(TotalWorkingYears), 2) FROM hr_analytics;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Years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11.21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11.21 years total experience in workforce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31 of 50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Q32 |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average tenure at the company?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ROUND(AVG(YearsAtCompany), 2) AS AVG_TENURE FROM hr_analytics;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Tenure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tenure is 7.01 years per employee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32 of 50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Q33 |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attrition increase with fewer years at the company?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YearsAtCompany, COUNT(CASE WHEN Attrition='Yes' THEN 1 END) FROM hr_analytics GROUP BY YearsAtCompany ORDER BY YearsAtCompany;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 | Attrition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 | 65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| 56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| 45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| 21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33 of 50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Q34 |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average time since last promotion?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ROUND(AVG(YearsSinceLastPromotion), 2) FROM hr_analytics;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Years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34 of 50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Q35 |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experience affect salary?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TotalWorkingYears, ROUND(AVG(MonthlyIncome), 2) FROM hr_analytics GROUP BY TotalWorkingYears ORDER BY TotalWorkingYears DESC LIMIT 10;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 | Avg Salary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   | 11425.00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   | 8964.50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   | 9187.25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35 of 50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Q36 |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employees have never been promoted?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EMPLOYEES_NEVER_PROMOTED FROM hr_analytics WHERE YearsSinceLastPromotion = 0;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36 of 50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Q37 |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the longest tenure in the company?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MAX(YearsAtCompany) AS longest_TENURE FROM hr_analytics;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Tenure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37 of 50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Q38 |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manager tenure affect attrition?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YearsWithCurrManager, COUNT(CASE WHEN Attrition='Yes' THEN 1 END) FROM hr_analytics GROUP BY YearsWithCurrManager ORDER BY YearsWithCurrManager;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 | Attrition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 | 68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| 59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| 45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| 32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38 of 50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Q39 |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do employees stay with the same manager?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ROUND(AVG(YearsWithCurrManager), 2) FROM hr_analytics;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Years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39 of 50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Q40 |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often do employees switch companies?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ROUND(AVG(NumCompaniesWorked), 2) FROM hr_analytics;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Companies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40 of 50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Q41 | Satisfaction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average job satisfaction level?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ROUND(AVG(JobSatisfaction), 2) FROM hr_analytics;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Satisfaction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satisfaction score is 2.73/4 (moderate)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41 of 50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Q42 | Satisfaction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low job satisfaction lead to higher attrition?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JobSatisfaction, COUNT(CASE WHEN Attrition='Yes' THEN 1 END) FROM hr_analytics GROUP BY JobSatisfaction ORDER BY JobSatisfaction;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| Attrition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(Low)  | 87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 | 78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 | 52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(High) | 20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satisfaction = 87 attrition cases (highest)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42 of 50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Q43 | Satisfaction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work-life balance affect attrition?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WorkLifeBalance, COUNT(CASE WHEN Attrition='Yes' THEN 1 END) FROM hr_analytics GROUP BY WorkLifeBalance;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 | Attrition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(Bad) | 95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| 88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| 41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(Good)| 13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work-life balance = 95 attrition cases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43 of 50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Q44 | Satisfaction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distribution of environment satisfaction?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EnvironmentSatisfaction, COUNT(*) FROM hr_analytics GROUP BY EnvironmentSatisfaction;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| Count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(Low)  | 284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 | 347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 | 443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(High) | 396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44 of 50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Q45 | Satisfaction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distribution of performance ratings?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PerformanceRating, COUNT(*) FROM hr_analytics GROUP BY PerformanceRating;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 | Count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| 1086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 | 384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45 of 50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Q46 | Satisfaction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higher performance lead to higher salary?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PerformanceRating, ROUND(AVG(MonthlyIncome), 2) FROM hr_analytics GROUP BY PerformanceRating;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 | Avg Salary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| 6518.37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 | 7543.19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46 of 50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Q47 | Satisfaction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employees have low job satisfaction?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JobSatisfaction, COUNT(*) FROM hr_analytics GROUP BY JobSatisfaction;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| Count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(Low) | 289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| 361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| 442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(High)| 378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47 of 50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Q48 | Satisfaction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employees with low satisfaction left the company?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EnvironmentSatisfaction, COUNT(CASE WHEN Attrition='Yes' THEN 1 END) FROM hr_analytics WHERE EnvironmentSatisfaction &lt;= 2 GROUP BY EnvironmentSatisfaction;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Satisfaction | Left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(Low)      | 68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     | 72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48 of 50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Q49 | Satisfaction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overtime impact job satisfaction?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OverTime, ROUND(AVG(JobSatisfaction), 2) FROM hr_analytics GROUP BY OverTime;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OverTime | Avg Satisfaction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      | 2.85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      | 2.55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49 of 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Q50 | Satisfaction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job satisfaction and work-life balance together affect attrition?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JobSatisfaction, WorkLifeBalance, COUNT(CASE WHEN Attrition='Yes' THEN 1 END) FROM hr_analytics WHERE Attrition='YES' GROUP BY JobSatisfaction, WorkLifeBalance ORDER BY JobSatisfaction;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0F9B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Satisfaction | Balance | Left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      | 1       | 32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      | 2       | 28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     | 1       | 18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metric helps identify key HR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50 of 50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3310</Words>
  <Application>Microsoft Office PowerPoint</Application>
  <PresentationFormat>On-screen Show (16:9)</PresentationFormat>
  <Paragraphs>627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Analytics: 50 Queries with Outputs</dc:title>
  <dc:subject>PptxGenJS Presentation</dc:subject>
  <dc:creator>Sagar Shende</dc:creator>
  <cp:lastModifiedBy>Sagar Shende</cp:lastModifiedBy>
  <cp:revision>2</cp:revision>
  <dcterms:created xsi:type="dcterms:W3CDTF">2026-06-23T07:17:49Z</dcterms:created>
  <dcterms:modified xsi:type="dcterms:W3CDTF">2026-06-23T07:28:33Z</dcterms:modified>
</cp:coreProperties>
</file>